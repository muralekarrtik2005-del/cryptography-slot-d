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685" r:id="rId2"/>
    <p:sldId id="686" r:id="rId3"/>
    <p:sldId id="671" r:id="rId4"/>
    <p:sldId id="687" r:id="rId5"/>
    <p:sldId id="676" r:id="rId6"/>
    <p:sldId id="672" r:id="rId7"/>
    <p:sldId id="688" r:id="rId8"/>
    <p:sldId id="664" r:id="rId9"/>
    <p:sldId id="68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70A36"/>
    <a:srgbClr val="ED1B1D"/>
    <a:srgbClr val="1E85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D6F71E-7999-4FAE-B7F0-F26AB2EC91FB}" v="3" dt="2026-07-31T04:04:49.3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9B59B-5776-4336-B2FB-BB8E3CD3CD1B}"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11FEC3-FDC7-428C-A1EC-CA407CBE7C2B}" type="slidenum">
              <a:rPr lang="en-US" smtClean="0"/>
              <a:t>‹#›</a:t>
            </a:fld>
            <a:endParaRPr lang="en-US"/>
          </a:p>
        </p:txBody>
      </p:sp>
    </p:spTree>
    <p:extLst>
      <p:ext uri="{BB962C8B-B14F-4D97-AF65-F5344CB8AC3E}">
        <p14:creationId xmlns:p14="http://schemas.microsoft.com/office/powerpoint/2010/main" val="1905455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18952-6097-719C-670F-42C6C1372B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7C16E-B8AA-AB47-5B60-B8A0BF35C3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4C3F22-CCB3-38DA-95A1-F522B2974A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6B845A-4C12-CBD3-2F17-B7666BAAB872}"/>
              </a:ext>
            </a:extLst>
          </p:cNvPr>
          <p:cNvSpPr>
            <a:spLocks noGrp="1"/>
          </p:cNvSpPr>
          <p:nvPr>
            <p:ph type="sldNum" sz="quarter" idx="10"/>
          </p:nvPr>
        </p:nvSpPr>
        <p:spPr/>
        <p:txBody>
          <a:bodyPr/>
          <a:lstStyle/>
          <a:p>
            <a:fld id="{F811FEC3-FDC7-428C-A1EC-CA407CBE7C2B}" type="slidenum">
              <a:rPr lang="en-US" smtClean="0"/>
              <a:t>3</a:t>
            </a:fld>
            <a:endParaRPr lang="en-US"/>
          </a:p>
        </p:txBody>
      </p:sp>
    </p:spTree>
    <p:extLst>
      <p:ext uri="{BB962C8B-B14F-4D97-AF65-F5344CB8AC3E}">
        <p14:creationId xmlns:p14="http://schemas.microsoft.com/office/powerpoint/2010/main" val="2838545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811FEC3-FDC7-428C-A1EC-CA407CBE7C2B}" type="slidenum">
              <a:rPr lang="en-US" smtClean="0"/>
              <a:t>4</a:t>
            </a:fld>
            <a:endParaRPr lang="en-US"/>
          </a:p>
        </p:txBody>
      </p:sp>
    </p:spTree>
    <p:extLst>
      <p:ext uri="{BB962C8B-B14F-4D97-AF65-F5344CB8AC3E}">
        <p14:creationId xmlns:p14="http://schemas.microsoft.com/office/powerpoint/2010/main" val="2263820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8F68D-A546-62FC-8A24-45AED0225D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D997A-C2AF-3D40-A33E-4911943DA48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06D220D-2E09-AE84-2F43-A3992C7897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8390E5-402A-3A8F-D044-EBF12051B638}"/>
              </a:ext>
            </a:extLst>
          </p:cNvPr>
          <p:cNvSpPr>
            <a:spLocks noGrp="1"/>
          </p:cNvSpPr>
          <p:nvPr>
            <p:ph type="sldNum" sz="quarter" idx="10"/>
          </p:nvPr>
        </p:nvSpPr>
        <p:spPr/>
        <p:txBody>
          <a:bodyPr/>
          <a:lstStyle/>
          <a:p>
            <a:fld id="{F811FEC3-FDC7-428C-A1EC-CA407CBE7C2B}" type="slidenum">
              <a:rPr lang="en-US" smtClean="0"/>
              <a:t>5</a:t>
            </a:fld>
            <a:endParaRPr lang="en-US"/>
          </a:p>
        </p:txBody>
      </p:sp>
    </p:spTree>
    <p:extLst>
      <p:ext uri="{BB962C8B-B14F-4D97-AF65-F5344CB8AC3E}">
        <p14:creationId xmlns:p14="http://schemas.microsoft.com/office/powerpoint/2010/main" val="2764578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C4BEE25-CBB8-4699-A890-BC2C14C32110}" type="datetime1">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C1AE5-A1DE-415B-8CD1-7E08D07E9000}" type="slidenum">
              <a:rPr lang="en-US" smtClean="0"/>
              <a:t>‹#›</a:t>
            </a:fld>
            <a:endParaRPr lang="en-US"/>
          </a:p>
        </p:txBody>
      </p:sp>
    </p:spTree>
    <p:extLst>
      <p:ext uri="{BB962C8B-B14F-4D97-AF65-F5344CB8AC3E}">
        <p14:creationId xmlns:p14="http://schemas.microsoft.com/office/powerpoint/2010/main" val="864679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A62E13-6E83-4F86-9F62-D6395AD1D44D}" type="datetime1">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C1AE5-A1DE-415B-8CD1-7E08D07E9000}" type="slidenum">
              <a:rPr lang="en-US" smtClean="0"/>
              <a:t>‹#›</a:t>
            </a:fld>
            <a:endParaRPr lang="en-US"/>
          </a:p>
        </p:txBody>
      </p:sp>
    </p:spTree>
    <p:extLst>
      <p:ext uri="{BB962C8B-B14F-4D97-AF65-F5344CB8AC3E}">
        <p14:creationId xmlns:p14="http://schemas.microsoft.com/office/powerpoint/2010/main" val="832254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33AA4F-3992-4E1B-B7BE-D25368053DAE}" type="datetime1">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C1AE5-A1DE-415B-8CD1-7E08D07E9000}" type="slidenum">
              <a:rPr lang="en-US" smtClean="0"/>
              <a:t>‹#›</a:t>
            </a:fld>
            <a:endParaRPr lang="en-US"/>
          </a:p>
        </p:txBody>
      </p:sp>
    </p:spTree>
    <p:extLst>
      <p:ext uri="{BB962C8B-B14F-4D97-AF65-F5344CB8AC3E}">
        <p14:creationId xmlns:p14="http://schemas.microsoft.com/office/powerpoint/2010/main" val="3267046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1569F25-6919-4262-8345-AF5C44617582}" type="datetime1">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EC1AE5-A1DE-415B-8CD1-7E08D07E9000}" type="slidenum">
              <a:rPr lang="en-US" smtClean="0"/>
              <a:t>‹#›</a:t>
            </a:fld>
            <a:endParaRPr lang="en-US"/>
          </a:p>
        </p:txBody>
      </p:sp>
    </p:spTree>
    <p:extLst>
      <p:ext uri="{BB962C8B-B14F-4D97-AF65-F5344CB8AC3E}">
        <p14:creationId xmlns:p14="http://schemas.microsoft.com/office/powerpoint/2010/main" val="39245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3A851C8-0794-44AF-913A-BE2B5C81A6BD}" type="datetime1">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EC1AE5-A1DE-415B-8CD1-7E08D07E9000}" type="slidenum">
              <a:rPr lang="en-US" smtClean="0"/>
              <a:t>‹#›</a:t>
            </a:fld>
            <a:endParaRPr lang="en-US"/>
          </a:p>
        </p:txBody>
      </p:sp>
    </p:spTree>
    <p:extLst>
      <p:ext uri="{BB962C8B-B14F-4D97-AF65-F5344CB8AC3E}">
        <p14:creationId xmlns:p14="http://schemas.microsoft.com/office/powerpoint/2010/main" val="713790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67E531C-6B94-494C-A180-321D963F5710}" type="datetime1">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EC1AE5-A1DE-415B-8CD1-7E08D07E9000}" type="slidenum">
              <a:rPr lang="en-US" smtClean="0"/>
              <a:t>‹#›</a:t>
            </a:fld>
            <a:endParaRPr lang="en-US"/>
          </a:p>
        </p:txBody>
      </p:sp>
    </p:spTree>
    <p:extLst>
      <p:ext uri="{BB962C8B-B14F-4D97-AF65-F5344CB8AC3E}">
        <p14:creationId xmlns:p14="http://schemas.microsoft.com/office/powerpoint/2010/main" val="2333000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2F0F76-A835-4C3A-AC66-AD31B3C3B6DC}" type="datetime1">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EC1AE5-A1DE-415B-8CD1-7E08D07E9000}" type="slidenum">
              <a:rPr lang="en-US" smtClean="0"/>
              <a:t>‹#›</a:t>
            </a:fld>
            <a:endParaRPr lang="en-US"/>
          </a:p>
        </p:txBody>
      </p:sp>
    </p:spTree>
    <p:extLst>
      <p:ext uri="{BB962C8B-B14F-4D97-AF65-F5344CB8AC3E}">
        <p14:creationId xmlns:p14="http://schemas.microsoft.com/office/powerpoint/2010/main" val="3851061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55B78E-3C0F-4E9C-BF85-C9350BBAC30D}" type="datetime1">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EC1AE5-A1DE-415B-8CD1-7E08D07E9000}" type="slidenum">
              <a:rPr lang="en-US" smtClean="0"/>
              <a:t>‹#›</a:t>
            </a:fld>
            <a:endParaRPr lang="en-US"/>
          </a:p>
        </p:txBody>
      </p:sp>
    </p:spTree>
    <p:extLst>
      <p:ext uri="{BB962C8B-B14F-4D97-AF65-F5344CB8AC3E}">
        <p14:creationId xmlns:p14="http://schemas.microsoft.com/office/powerpoint/2010/main" val="3118415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C7B5B-C634-46C0-9C3D-06E9B03D2F0F}" type="datetime1">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EC1AE5-A1DE-415B-8CD1-7E08D07E9000}" type="slidenum">
              <a:rPr lang="en-US" smtClean="0"/>
              <a:t>‹#›</a:t>
            </a:fld>
            <a:endParaRPr lang="en-US"/>
          </a:p>
        </p:txBody>
      </p:sp>
    </p:spTree>
    <p:extLst>
      <p:ext uri="{BB962C8B-B14F-4D97-AF65-F5344CB8AC3E}">
        <p14:creationId xmlns:p14="http://schemas.microsoft.com/office/powerpoint/2010/main" val="1931967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6FD674-208D-4DF2-8DA5-C659115FFFD8}" type="datetime1">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C1AE5-A1DE-415B-8CD1-7E08D07E9000}" type="slidenum">
              <a:rPr lang="en-US" smtClean="0"/>
              <a:t>‹#›</a:t>
            </a:fld>
            <a:endParaRPr lang="en-US"/>
          </a:p>
        </p:txBody>
      </p:sp>
    </p:spTree>
    <p:extLst>
      <p:ext uri="{BB962C8B-B14F-4D97-AF65-F5344CB8AC3E}">
        <p14:creationId xmlns:p14="http://schemas.microsoft.com/office/powerpoint/2010/main" val="2984701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2A764A-F7CF-4D84-9956-351792EABDCE}" type="datetime1">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C1AE5-A1DE-415B-8CD1-7E08D07E9000}" type="slidenum">
              <a:rPr lang="en-US" smtClean="0"/>
              <a:t>‹#›</a:t>
            </a:fld>
            <a:endParaRPr lang="en-US"/>
          </a:p>
        </p:txBody>
      </p:sp>
    </p:spTree>
    <p:extLst>
      <p:ext uri="{BB962C8B-B14F-4D97-AF65-F5344CB8AC3E}">
        <p14:creationId xmlns:p14="http://schemas.microsoft.com/office/powerpoint/2010/main" val="3552865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D912DA-2DAF-4484-9A68-439802BC09F2}" type="datetime1">
              <a:rPr lang="en-US" smtClean="0"/>
              <a:t>10/14/2026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EC1AE5-A1DE-415B-8CD1-7E08D07E9000}" type="slidenum">
              <a:rPr lang="en-US" smtClean="0"/>
              <a:t>‹#›</a:t>
            </a:fld>
            <a:endParaRPr lang="en-US"/>
          </a:p>
        </p:txBody>
      </p:sp>
    </p:spTree>
    <p:extLst>
      <p:ext uri="{BB962C8B-B14F-4D97-AF65-F5344CB8AC3E}">
        <p14:creationId xmlns:p14="http://schemas.microsoft.com/office/powerpoint/2010/main" val="545586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B2544B-6B5B-E08C-8CE3-F7A11D7E4BD7}"/>
              </a:ext>
            </a:extLst>
          </p:cNvPr>
          <p:cNvSpPr>
            <a:spLocks noGrp="1"/>
          </p:cNvSpPr>
          <p:nvPr>
            <p:ph type="dt" sz="half" idx="10"/>
          </p:nvPr>
        </p:nvSpPr>
        <p:spPr/>
        <p:txBody>
          <a:bodyPr/>
          <a:lstStyle/>
          <a:p>
            <a:fld id="{D62F0F76-A835-4C3A-AC66-AD31B3C3B6DC}" type="datetime1">
              <a:rPr lang="en-US" smtClean="0"/>
              <a:t>10/14/2026</a:t>
            </a:fld>
            <a:endParaRPr lang="en-US"/>
          </a:p>
        </p:txBody>
      </p:sp>
      <p:sp>
        <p:nvSpPr>
          <p:cNvPr id="3" name="Slide Number Placeholder 2">
            <a:extLst>
              <a:ext uri="{FF2B5EF4-FFF2-40B4-BE49-F238E27FC236}">
                <a16:creationId xmlns:a16="http://schemas.microsoft.com/office/drawing/2014/main" id="{8675ADEB-C5B7-C6DA-7E81-FF280DBF2B4F}"/>
              </a:ext>
            </a:extLst>
          </p:cNvPr>
          <p:cNvSpPr>
            <a:spLocks noGrp="1"/>
          </p:cNvSpPr>
          <p:nvPr>
            <p:ph type="sldNum" sz="quarter" idx="12"/>
          </p:nvPr>
        </p:nvSpPr>
        <p:spPr/>
        <p:txBody>
          <a:bodyPr/>
          <a:lstStyle/>
          <a:p>
            <a:fld id="{B6EC1AE5-A1DE-415B-8CD1-7E08D07E9000}" type="slidenum">
              <a:rPr lang="en-US" smtClean="0"/>
              <a:t>1</a:t>
            </a:fld>
            <a:endParaRPr lang="en-US"/>
          </a:p>
        </p:txBody>
      </p:sp>
      <p:sp>
        <p:nvSpPr>
          <p:cNvPr id="5" name="Rectangle 3">
            <a:extLst>
              <a:ext uri="{FF2B5EF4-FFF2-40B4-BE49-F238E27FC236}">
                <a16:creationId xmlns:a16="http://schemas.microsoft.com/office/drawing/2014/main" id="{3CA4DC4D-E7E4-A1C9-DF94-4A0E30DEB811}"/>
              </a:ext>
            </a:extLst>
          </p:cNvPr>
          <p:cNvSpPr>
            <a:spLocks noChangeArrowheads="1"/>
          </p:cNvSpPr>
          <p:nvPr/>
        </p:nvSpPr>
        <p:spPr bwMode="auto">
          <a:xfrm>
            <a:off x="1468810" y="2457126"/>
            <a:ext cx="10674752" cy="422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Rectangle 4">
            <a:extLst>
              <a:ext uri="{FF2B5EF4-FFF2-40B4-BE49-F238E27FC236}">
                <a16:creationId xmlns:a16="http://schemas.microsoft.com/office/drawing/2014/main" id="{76710B35-2E39-765B-E454-9554A2896DC1}"/>
              </a:ext>
            </a:extLst>
          </p:cNvPr>
          <p:cNvSpPr>
            <a:spLocks noChangeArrowheads="1"/>
          </p:cNvSpPr>
          <p:nvPr/>
        </p:nvSpPr>
        <p:spPr bwMode="auto">
          <a:xfrm>
            <a:off x="1604865" y="407858"/>
            <a:ext cx="864451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tabLst/>
            </a:pPr>
            <a:endParaRPr lang="en-US" altLang="en-US" sz="2800" b="1" dirty="0">
              <a:solidFill>
                <a:srgbClr val="000000"/>
              </a:solidFill>
              <a:ea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C0C0C"/>
                </a:solidFill>
                <a:effectLst/>
                <a:latin typeface="Arial" panose="020B0604020202020204" pitchFamily="34" charset="0"/>
                <a:ea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20">
            <a:extLst>
              <a:ext uri="{FF2B5EF4-FFF2-40B4-BE49-F238E27FC236}">
                <a16:creationId xmlns:a16="http://schemas.microsoft.com/office/drawing/2014/main" id="{885F1014-31A6-FCE3-B016-D557926C09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2200" y="406382"/>
            <a:ext cx="1520825" cy="134302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7">
            <a:extLst>
              <a:ext uri="{FF2B5EF4-FFF2-40B4-BE49-F238E27FC236}">
                <a16:creationId xmlns:a16="http://schemas.microsoft.com/office/drawing/2014/main" id="{0F3EB22C-3B91-8049-7C32-880605FEEF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006" y="406382"/>
            <a:ext cx="1135063" cy="134302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8">
            <a:extLst>
              <a:ext uri="{FF2B5EF4-FFF2-40B4-BE49-F238E27FC236}">
                <a16:creationId xmlns:a16="http://schemas.microsoft.com/office/drawing/2014/main" id="{69580CAF-981B-759A-7AC8-BC36CB4257DD}"/>
              </a:ext>
            </a:extLst>
          </p:cNvPr>
          <p:cNvSpPr>
            <a:spLocks noChangeArrowheads="1"/>
          </p:cNvSpPr>
          <p:nvPr/>
        </p:nvSpPr>
        <p:spPr bwMode="auto">
          <a:xfrm>
            <a:off x="2883967" y="448287"/>
            <a:ext cx="642406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SIMATS ENGINEERING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SAVEETHA INSTITUTE OF MEDICAL AND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TECHNICAL SCIENCES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06F7A9F3-AF3D-8C26-CDF3-78D51C8BC9D4}"/>
              </a:ext>
            </a:extLst>
          </p:cNvPr>
          <p:cNvSpPr txBox="1"/>
          <p:nvPr/>
        </p:nvSpPr>
        <p:spPr>
          <a:xfrm>
            <a:off x="1604865" y="3241172"/>
            <a:ext cx="8377336" cy="856068"/>
          </a:xfrm>
          <a:prstGeom prst="rect">
            <a:avLst/>
          </a:prstGeom>
          <a:noFill/>
        </p:spPr>
        <p:txBody>
          <a:bodyPr wrap="square">
            <a:spAutoFit/>
          </a:bodyPr>
          <a:lstStyle/>
          <a:p>
            <a:pPr marR="631190" algn="ctr">
              <a:lnSpc>
                <a:spcPct val="107000"/>
              </a:lnSpc>
              <a:spcAft>
                <a:spcPts val="800"/>
              </a:spcAft>
            </a:pPr>
            <a:r>
              <a:rPr lang="en-IN" sz="24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CSA5116– CRYPTOGRAPHY AND NETWORK SECURITY</a:t>
            </a:r>
          </a:p>
        </p:txBody>
      </p:sp>
      <p:sp>
        <p:nvSpPr>
          <p:cNvPr id="17" name="TextBox 16">
            <a:extLst>
              <a:ext uri="{FF2B5EF4-FFF2-40B4-BE49-F238E27FC236}">
                <a16:creationId xmlns:a16="http://schemas.microsoft.com/office/drawing/2014/main" id="{4A043F1F-D49B-D91F-012D-01CC79B17B5F}"/>
              </a:ext>
            </a:extLst>
          </p:cNvPr>
          <p:cNvSpPr txBox="1"/>
          <p:nvPr/>
        </p:nvSpPr>
        <p:spPr>
          <a:xfrm>
            <a:off x="1290232" y="4671510"/>
            <a:ext cx="2910348"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Guided By:</a:t>
            </a:r>
          </a:p>
          <a:p>
            <a:pPr algn="ctr"/>
            <a:r>
              <a:rPr lang="en-IN" dirty="0">
                <a:latin typeface="Times New Roman" panose="02020603050405020304" pitchFamily="18" charset="0"/>
                <a:cs typeface="Times New Roman" panose="02020603050405020304" pitchFamily="18" charset="0"/>
              </a:rPr>
              <a:t>   DR. D. Sudhagar</a:t>
            </a:r>
          </a:p>
        </p:txBody>
      </p:sp>
      <p:sp>
        <p:nvSpPr>
          <p:cNvPr id="19" name="TextBox 18">
            <a:extLst>
              <a:ext uri="{FF2B5EF4-FFF2-40B4-BE49-F238E27FC236}">
                <a16:creationId xmlns:a16="http://schemas.microsoft.com/office/drawing/2014/main" id="{F90A2184-BBDB-3437-F7FA-90BD9EA2E622}"/>
              </a:ext>
            </a:extLst>
          </p:cNvPr>
          <p:cNvSpPr txBox="1"/>
          <p:nvPr/>
        </p:nvSpPr>
        <p:spPr>
          <a:xfrm>
            <a:off x="1424889" y="1993162"/>
            <a:ext cx="9317723" cy="856068"/>
          </a:xfrm>
          <a:prstGeom prst="rect">
            <a:avLst/>
          </a:prstGeom>
          <a:noFill/>
        </p:spPr>
        <p:txBody>
          <a:bodyPr wrap="square" rtlCol="0">
            <a:spAutoFit/>
          </a:bodyPr>
          <a:lstStyle/>
          <a:p>
            <a:pPr marR="631190" algn="ctr">
              <a:lnSpc>
                <a:spcPct val="107000"/>
              </a:lnSpc>
              <a:spcAft>
                <a:spcPts val="800"/>
              </a:spcAft>
            </a:pPr>
            <a:r>
              <a:rPr lang="en-IN" sz="2400" b="1" dirty="0" err="1">
                <a:latin typeface="Times New Roman" panose="02020603050405020304" pitchFamily="18" charset="0"/>
                <a:cs typeface="Times New Roman" panose="02020603050405020304" pitchFamily="18" charset="0"/>
              </a:rPr>
              <a:t>CipherSense</a:t>
            </a:r>
            <a:r>
              <a:rPr lang="en-IN" sz="2400" b="1" dirty="0">
                <a:latin typeface="Times New Roman" panose="02020603050405020304" pitchFamily="18" charset="0"/>
                <a:cs typeface="Times New Roman" panose="02020603050405020304" pitchFamily="18" charset="0"/>
              </a:rPr>
              <a:t> : AI-Powered Cryptanalysis and Security Assessment Toolkit</a:t>
            </a:r>
            <a:endParaRPr lang="en-GB" sz="2400" b="1"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4A973DBF-D53E-ADFD-82DD-BE1253A018CF}"/>
              </a:ext>
            </a:extLst>
          </p:cNvPr>
          <p:cNvSpPr txBox="1"/>
          <p:nvPr/>
        </p:nvSpPr>
        <p:spPr>
          <a:xfrm>
            <a:off x="7306950" y="4192102"/>
            <a:ext cx="3673225" cy="147732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Presented by: </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Vempati </a:t>
            </a:r>
            <a:r>
              <a:rPr lang="en-IN" dirty="0" err="1">
                <a:latin typeface="Times New Roman" panose="02020603050405020304" pitchFamily="18" charset="0"/>
                <a:cs typeface="Times New Roman" panose="02020603050405020304" pitchFamily="18" charset="0"/>
              </a:rPr>
              <a:t>Murale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Karrtik</a:t>
            </a:r>
            <a:r>
              <a:rPr lang="en-IN" dirty="0">
                <a:latin typeface="Times New Roman" panose="02020603050405020304" pitchFamily="18" charset="0"/>
                <a:cs typeface="Times New Roman" panose="02020603050405020304" pitchFamily="18" charset="0"/>
              </a:rPr>
              <a:t> (192312567)</a:t>
            </a:r>
          </a:p>
          <a:p>
            <a:r>
              <a:rPr lang="en-IN" dirty="0">
                <a:latin typeface="Times New Roman" panose="02020603050405020304" pitchFamily="18" charset="0"/>
                <a:cs typeface="Times New Roman" panose="02020603050405020304" pitchFamily="18" charset="0"/>
              </a:rPr>
              <a:t>G Vignesh (192373051)</a:t>
            </a:r>
          </a:p>
          <a:p>
            <a:r>
              <a:rPr lang="en-IN" dirty="0" err="1">
                <a:latin typeface="Times New Roman" panose="02020603050405020304" pitchFamily="18" charset="0"/>
                <a:cs typeface="Times New Roman" panose="02020603050405020304" pitchFamily="18" charset="0"/>
              </a:rPr>
              <a:t>Katappagari</a:t>
            </a:r>
            <a:r>
              <a:rPr lang="en-IN" dirty="0">
                <a:latin typeface="Times New Roman" panose="02020603050405020304" pitchFamily="18" charset="0"/>
                <a:cs typeface="Times New Roman" panose="02020603050405020304" pitchFamily="18" charset="0"/>
              </a:rPr>
              <a:t> Vineela (192312423)</a:t>
            </a:r>
          </a:p>
          <a:p>
            <a:r>
              <a:rPr lang="en-IN" dirty="0" err="1">
                <a:latin typeface="Times New Roman" panose="02020603050405020304" pitchFamily="18" charset="0"/>
                <a:cs typeface="Times New Roman" panose="02020603050405020304" pitchFamily="18" charset="0"/>
              </a:rPr>
              <a:t>Kotapati</a:t>
            </a:r>
            <a:r>
              <a:rPr lang="en-IN" dirty="0">
                <a:latin typeface="Times New Roman" panose="02020603050405020304" pitchFamily="18" charset="0"/>
                <a:cs typeface="Times New Roman" panose="02020603050405020304" pitchFamily="18" charset="0"/>
              </a:rPr>
              <a:t> Harshitha (192324202)</a:t>
            </a:r>
          </a:p>
        </p:txBody>
      </p:sp>
    </p:spTree>
    <p:extLst>
      <p:ext uri="{BB962C8B-B14F-4D97-AF65-F5344CB8AC3E}">
        <p14:creationId xmlns:p14="http://schemas.microsoft.com/office/powerpoint/2010/main" val="3512704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2FC55-4357-1A65-2623-5D61BFBB2BD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ABSTRACT</a:t>
            </a:r>
          </a:p>
        </p:txBody>
      </p:sp>
      <p:sp>
        <p:nvSpPr>
          <p:cNvPr id="3" name="Content Placeholder 2">
            <a:extLst>
              <a:ext uri="{FF2B5EF4-FFF2-40B4-BE49-F238E27FC236}">
                <a16:creationId xmlns:a16="http://schemas.microsoft.com/office/drawing/2014/main" id="{037A33A8-714F-DA68-EF2D-710708253B43}"/>
              </a:ext>
            </a:extLst>
          </p:cNvPr>
          <p:cNvSpPr>
            <a:spLocks noGrp="1"/>
          </p:cNvSpPr>
          <p:nvPr>
            <p:ph idx="1"/>
          </p:nvPr>
        </p:nvSpPr>
        <p:spPr/>
        <p:txBody>
          <a:bodyPr>
            <a:normAutofit/>
          </a:bodyPr>
          <a:lstStyle/>
          <a:p>
            <a:pPr marL="0" indent="0">
              <a:lnSpc>
                <a:spcPct val="150000"/>
              </a:lnSpc>
              <a:buNone/>
            </a:pPr>
            <a:r>
              <a:rPr lang="en-IN" sz="2000" dirty="0">
                <a:latin typeface="Times New Roman" panose="02020603050405020304" pitchFamily="18" charset="0"/>
                <a:cs typeface="Times New Roman" panose="02020603050405020304" pitchFamily="18" charset="0"/>
              </a:rPr>
              <a:t>AI-Powered Cryptanalysis and Security Assessment Toolkit is a project designed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encrypted messages and evaluate the security of classical encryption techniques using artificial intelligence and machine learning. The system focuses on ciphers such as Caesar, substitution, and transposition to identify possible weaknesses through frequency analysis, pattern recognition, and automated cryptanalysis. It provides a user-friendly interface for encryption, decryption, ciphertext analysis, and security assessment. The main aim of </a:t>
            </a:r>
            <a:r>
              <a:rPr lang="en-IN" sz="2000" dirty="0" err="1">
                <a:latin typeface="Times New Roman" panose="02020603050405020304" pitchFamily="18" charset="0"/>
                <a:cs typeface="Times New Roman" panose="02020603050405020304" pitchFamily="18" charset="0"/>
              </a:rPr>
              <a:t>CipherSense</a:t>
            </a:r>
            <a:r>
              <a:rPr lang="en-IN" sz="2000" dirty="0">
                <a:latin typeface="Times New Roman" panose="02020603050405020304" pitchFamily="18" charset="0"/>
                <a:cs typeface="Times New Roman" panose="02020603050405020304" pitchFamily="18" charset="0"/>
              </a:rPr>
              <a:t> is to help users understand how encryption techniques work, identify their vulnerabilities, and learn the importance of secure encryption methods in modern cybersecurity.</a:t>
            </a:r>
          </a:p>
          <a:p>
            <a:endParaRPr lang="en-IN" dirty="0"/>
          </a:p>
        </p:txBody>
      </p:sp>
      <p:sp>
        <p:nvSpPr>
          <p:cNvPr id="4" name="Date Placeholder 3">
            <a:extLst>
              <a:ext uri="{FF2B5EF4-FFF2-40B4-BE49-F238E27FC236}">
                <a16:creationId xmlns:a16="http://schemas.microsoft.com/office/drawing/2014/main" id="{3BE813FE-1156-E250-6E70-EED00023C96A}"/>
              </a:ext>
            </a:extLst>
          </p:cNvPr>
          <p:cNvSpPr>
            <a:spLocks noGrp="1"/>
          </p:cNvSpPr>
          <p:nvPr>
            <p:ph type="dt" sz="half" idx="10"/>
          </p:nvPr>
        </p:nvSpPr>
        <p:spPr/>
        <p:txBody>
          <a:bodyPr/>
          <a:lstStyle/>
          <a:p>
            <a:fld id="{1CA62E13-6E83-4F86-9F62-D6395AD1D44D}" type="datetime1">
              <a:rPr lang="en-US" smtClean="0"/>
              <a:t>10/14/2026</a:t>
            </a:fld>
            <a:endParaRPr lang="en-US"/>
          </a:p>
        </p:txBody>
      </p:sp>
      <p:sp>
        <p:nvSpPr>
          <p:cNvPr id="5" name="Slide Number Placeholder 4">
            <a:extLst>
              <a:ext uri="{FF2B5EF4-FFF2-40B4-BE49-F238E27FC236}">
                <a16:creationId xmlns:a16="http://schemas.microsoft.com/office/drawing/2014/main" id="{2E454D7F-4BA1-0D12-1117-CCF37AE4A7E5}"/>
              </a:ext>
            </a:extLst>
          </p:cNvPr>
          <p:cNvSpPr>
            <a:spLocks noGrp="1"/>
          </p:cNvSpPr>
          <p:nvPr>
            <p:ph type="sldNum" sz="quarter" idx="12"/>
          </p:nvPr>
        </p:nvSpPr>
        <p:spPr/>
        <p:txBody>
          <a:bodyPr/>
          <a:lstStyle/>
          <a:p>
            <a:fld id="{B6EC1AE5-A1DE-415B-8CD1-7E08D07E9000}" type="slidenum">
              <a:rPr lang="en-US" smtClean="0"/>
              <a:t>2</a:t>
            </a:fld>
            <a:endParaRPr lang="en-US"/>
          </a:p>
        </p:txBody>
      </p:sp>
      <p:pic>
        <p:nvPicPr>
          <p:cNvPr id="7" name="Picture 6">
            <a:extLst>
              <a:ext uri="{FF2B5EF4-FFF2-40B4-BE49-F238E27FC236}">
                <a16:creationId xmlns:a16="http://schemas.microsoft.com/office/drawing/2014/main" id="{2CFC751A-57B9-AB6A-374C-C384EFC0ACBD}"/>
              </a:ext>
            </a:extLst>
          </p:cNvPr>
          <p:cNvPicPr/>
          <p:nvPr/>
        </p:nvPicPr>
        <p:blipFill>
          <a:blip r:embed="rId2"/>
          <a:stretch>
            <a:fillRect/>
          </a:stretch>
        </p:blipFill>
        <p:spPr>
          <a:xfrm>
            <a:off x="403337" y="415767"/>
            <a:ext cx="1134745" cy="1342390"/>
          </a:xfrm>
          <a:prstGeom prst="rect">
            <a:avLst/>
          </a:prstGeom>
        </p:spPr>
      </p:pic>
      <p:pic>
        <p:nvPicPr>
          <p:cNvPr id="11" name="Picture 10">
            <a:extLst>
              <a:ext uri="{FF2B5EF4-FFF2-40B4-BE49-F238E27FC236}">
                <a16:creationId xmlns:a16="http://schemas.microsoft.com/office/drawing/2014/main" id="{9CC3CF2E-7554-BFED-C229-6D09EE4E182E}"/>
              </a:ext>
            </a:extLst>
          </p:cNvPr>
          <p:cNvPicPr/>
          <p:nvPr/>
        </p:nvPicPr>
        <p:blipFill>
          <a:blip r:embed="rId3"/>
          <a:stretch>
            <a:fillRect/>
          </a:stretch>
        </p:blipFill>
        <p:spPr>
          <a:xfrm>
            <a:off x="10066578" y="393542"/>
            <a:ext cx="1519555" cy="1342390"/>
          </a:xfrm>
          <a:prstGeom prst="rect">
            <a:avLst/>
          </a:prstGeom>
        </p:spPr>
      </p:pic>
    </p:spTree>
    <p:extLst>
      <p:ext uri="{BB962C8B-B14F-4D97-AF65-F5344CB8AC3E}">
        <p14:creationId xmlns:p14="http://schemas.microsoft.com/office/powerpoint/2010/main" val="519708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41B55-7627-6424-581C-9776B4ADB7B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A82E43-7DC9-2181-01EB-D517A8E9675C}"/>
              </a:ext>
            </a:extLst>
          </p:cNvPr>
          <p:cNvSpPr txBox="1"/>
          <p:nvPr/>
        </p:nvSpPr>
        <p:spPr>
          <a:xfrm>
            <a:off x="2108807" y="552350"/>
            <a:ext cx="7240386"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4A3CA68-9DC9-25F8-0502-EC6C1EAF568B}"/>
              </a:ext>
            </a:extLst>
          </p:cNvPr>
          <p:cNvSpPr txBox="1"/>
          <p:nvPr/>
        </p:nvSpPr>
        <p:spPr>
          <a:xfrm>
            <a:off x="641165" y="1877550"/>
            <a:ext cx="10499586" cy="4602029"/>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Protects sensitive information from unauthorized access using advanced cryptographic techniques. </a:t>
            </a:r>
          </a:p>
          <a:p>
            <a:pPr marL="342900" lvl="0" indent="-342900"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Uses Artificial Intelligence to automate cryptographic analysis and improve security assessment. </a:t>
            </a:r>
          </a:p>
          <a:p>
            <a:pPr marL="342900" lvl="0" indent="-342900"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Reduces the time and effort required for manual cryptanalysis with intelligent automation. </a:t>
            </a:r>
          </a:p>
          <a:p>
            <a:pPr marL="342900" lvl="0" indent="-342900"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Supports secure encryption and decryption methods to ensure safe data communication. </a:t>
            </a:r>
          </a:p>
          <a:p>
            <a:pPr marL="342900" lvl="0" indent="-342900"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Enhances cybersecurity awareness by providing intelligent insights for better decision-making.</a:t>
            </a:r>
          </a:p>
        </p:txBody>
      </p:sp>
      <p:pic>
        <p:nvPicPr>
          <p:cNvPr id="3" name="Picture 2">
            <a:extLst>
              <a:ext uri="{FF2B5EF4-FFF2-40B4-BE49-F238E27FC236}">
                <a16:creationId xmlns:a16="http://schemas.microsoft.com/office/drawing/2014/main" id="{8B633C55-57DF-6049-F850-75303251442B}"/>
              </a:ext>
            </a:extLst>
          </p:cNvPr>
          <p:cNvPicPr/>
          <p:nvPr/>
        </p:nvPicPr>
        <p:blipFill>
          <a:blip r:embed="rId3"/>
          <a:stretch>
            <a:fillRect/>
          </a:stretch>
        </p:blipFill>
        <p:spPr>
          <a:xfrm>
            <a:off x="459321" y="136525"/>
            <a:ext cx="1134745" cy="1342390"/>
          </a:xfrm>
          <a:prstGeom prst="rect">
            <a:avLst/>
          </a:prstGeom>
        </p:spPr>
      </p:pic>
      <p:pic>
        <p:nvPicPr>
          <p:cNvPr id="8" name="Picture 7">
            <a:extLst>
              <a:ext uri="{FF2B5EF4-FFF2-40B4-BE49-F238E27FC236}">
                <a16:creationId xmlns:a16="http://schemas.microsoft.com/office/drawing/2014/main" id="{2102F321-8DF5-2DC2-E1D0-84479DF7E254}"/>
              </a:ext>
            </a:extLst>
          </p:cNvPr>
          <p:cNvPicPr/>
          <p:nvPr/>
        </p:nvPicPr>
        <p:blipFill>
          <a:blip r:embed="rId4"/>
          <a:stretch>
            <a:fillRect/>
          </a:stretch>
        </p:blipFill>
        <p:spPr>
          <a:xfrm>
            <a:off x="10103900" y="78473"/>
            <a:ext cx="1519555" cy="1342390"/>
          </a:xfrm>
          <a:prstGeom prst="rect">
            <a:avLst/>
          </a:prstGeom>
        </p:spPr>
      </p:pic>
    </p:spTree>
    <p:extLst>
      <p:ext uri="{BB962C8B-B14F-4D97-AF65-F5344CB8AC3E}">
        <p14:creationId xmlns:p14="http://schemas.microsoft.com/office/powerpoint/2010/main" val="1754547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309CACA-22C1-93FC-15DC-63D4699804AA}"/>
              </a:ext>
            </a:extLst>
          </p:cNvPr>
          <p:cNvSpPr txBox="1"/>
          <p:nvPr/>
        </p:nvSpPr>
        <p:spPr>
          <a:xfrm>
            <a:off x="1405572" y="442881"/>
            <a:ext cx="8865677" cy="742511"/>
          </a:xfrm>
          <a:prstGeom prst="rect">
            <a:avLst/>
          </a:prstGeom>
          <a:noFill/>
        </p:spPr>
        <p:txBody>
          <a:bodyPr wrap="square">
            <a:spAutoFit/>
          </a:bodyPr>
          <a:lstStyle/>
          <a:p>
            <a:pPr algn="ctr">
              <a:lnSpc>
                <a:spcPct val="150000"/>
              </a:lnSpc>
            </a:pPr>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PROBLEM</a:t>
            </a:r>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STATEMENT</a:t>
            </a:r>
          </a:p>
        </p:txBody>
      </p:sp>
      <p:pic>
        <p:nvPicPr>
          <p:cNvPr id="2" name="Picture 1">
            <a:extLst>
              <a:ext uri="{FF2B5EF4-FFF2-40B4-BE49-F238E27FC236}">
                <a16:creationId xmlns:a16="http://schemas.microsoft.com/office/drawing/2014/main" id="{812F4A59-AF51-72D2-37F2-4E50C54CA892}"/>
              </a:ext>
            </a:extLst>
          </p:cNvPr>
          <p:cNvPicPr/>
          <p:nvPr/>
        </p:nvPicPr>
        <p:blipFill>
          <a:blip r:embed="rId3"/>
          <a:stretch>
            <a:fillRect/>
          </a:stretch>
        </p:blipFill>
        <p:spPr>
          <a:xfrm>
            <a:off x="270827" y="142942"/>
            <a:ext cx="1134745" cy="1342390"/>
          </a:xfrm>
          <a:prstGeom prst="rect">
            <a:avLst/>
          </a:prstGeom>
        </p:spPr>
      </p:pic>
      <p:pic>
        <p:nvPicPr>
          <p:cNvPr id="3" name="Picture 2">
            <a:extLst>
              <a:ext uri="{FF2B5EF4-FFF2-40B4-BE49-F238E27FC236}">
                <a16:creationId xmlns:a16="http://schemas.microsoft.com/office/drawing/2014/main" id="{94B5F23D-F08C-3856-1D4E-AA89E89E5F35}"/>
              </a:ext>
            </a:extLst>
          </p:cNvPr>
          <p:cNvPicPr/>
          <p:nvPr/>
        </p:nvPicPr>
        <p:blipFill>
          <a:blip r:embed="rId4"/>
          <a:stretch>
            <a:fillRect/>
          </a:stretch>
        </p:blipFill>
        <p:spPr>
          <a:xfrm>
            <a:off x="10491320" y="142942"/>
            <a:ext cx="1519555" cy="1342390"/>
          </a:xfrm>
          <a:prstGeom prst="rect">
            <a:avLst/>
          </a:prstGeom>
        </p:spPr>
      </p:pic>
      <p:sp>
        <p:nvSpPr>
          <p:cNvPr id="4" name="Rectangle 1">
            <a:extLst>
              <a:ext uri="{FF2B5EF4-FFF2-40B4-BE49-F238E27FC236}">
                <a16:creationId xmlns:a16="http://schemas.microsoft.com/office/drawing/2014/main" id="{009BCEE3-82B8-0657-EDBD-EAF990F387C6}"/>
              </a:ext>
            </a:extLst>
          </p:cNvPr>
          <p:cNvSpPr>
            <a:spLocks noChangeArrowheads="1"/>
          </p:cNvSpPr>
          <p:nvPr/>
        </p:nvSpPr>
        <p:spPr bwMode="auto">
          <a:xfrm>
            <a:off x="1206895" y="2106842"/>
            <a:ext cx="10044202" cy="358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Existing cryptanalysis tools provide limited security analysis capabilities. </a:t>
            </a:r>
          </a:p>
          <a:p>
            <a:pPr marL="342900" lvl="0" indent="-342900"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Selecting the right encryption algorithm is difficult for many users. </a:t>
            </a:r>
          </a:p>
          <a:p>
            <a:pPr marL="342900" lvl="0" indent="-342900"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Weak encryption methods increase the risk of cyberattacks and data breaches. </a:t>
            </a:r>
          </a:p>
          <a:p>
            <a:pPr marL="342900" lvl="0" indent="-342900"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Manual vulnerability assessment is time-consuming and requires expert knowledge. </a:t>
            </a:r>
          </a:p>
          <a:p>
            <a:pPr marL="342900" lvl="0" indent="-342900"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AI-based intelligent security assessment platforms are needed for faster and more accurate recommendations.</a:t>
            </a:r>
          </a:p>
          <a:p>
            <a:pPr marL="342900" lvl="0" indent="-342900">
              <a:lnSpc>
                <a:spcPct val="150000"/>
              </a:lnSpc>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8484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8498C-62B0-6573-FE25-C5D9ED419C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8B7EF9-0E6C-277D-EACD-F35CD56204A1}"/>
              </a:ext>
            </a:extLst>
          </p:cNvPr>
          <p:cNvSpPr txBox="1"/>
          <p:nvPr/>
        </p:nvSpPr>
        <p:spPr>
          <a:xfrm>
            <a:off x="2128058" y="749668"/>
            <a:ext cx="7240386"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LITERATURE REVIEW</a:t>
            </a:r>
            <a:endParaRPr lang="en-IN" sz="32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F7EA78E-30B6-8885-F1F4-F9E5E454C12B}"/>
              </a:ext>
            </a:extLst>
          </p:cNvPr>
          <p:cNvPicPr/>
          <p:nvPr/>
        </p:nvPicPr>
        <p:blipFill>
          <a:blip r:embed="rId3"/>
          <a:stretch>
            <a:fillRect/>
          </a:stretch>
        </p:blipFill>
        <p:spPr>
          <a:xfrm>
            <a:off x="459321" y="136525"/>
            <a:ext cx="1134745" cy="1342390"/>
          </a:xfrm>
          <a:prstGeom prst="rect">
            <a:avLst/>
          </a:prstGeom>
        </p:spPr>
      </p:pic>
      <p:pic>
        <p:nvPicPr>
          <p:cNvPr id="8" name="Picture 7">
            <a:extLst>
              <a:ext uri="{FF2B5EF4-FFF2-40B4-BE49-F238E27FC236}">
                <a16:creationId xmlns:a16="http://schemas.microsoft.com/office/drawing/2014/main" id="{9A12C942-0E3B-97E1-8338-5BC9404F4A61}"/>
              </a:ext>
            </a:extLst>
          </p:cNvPr>
          <p:cNvPicPr/>
          <p:nvPr/>
        </p:nvPicPr>
        <p:blipFill>
          <a:blip r:embed="rId4"/>
          <a:stretch>
            <a:fillRect/>
          </a:stretch>
        </p:blipFill>
        <p:spPr>
          <a:xfrm>
            <a:off x="10103900" y="78473"/>
            <a:ext cx="1519555" cy="1342390"/>
          </a:xfrm>
          <a:prstGeom prst="rect">
            <a:avLst/>
          </a:prstGeom>
        </p:spPr>
      </p:pic>
      <p:graphicFrame>
        <p:nvGraphicFramePr>
          <p:cNvPr id="6" name="Table 5">
            <a:extLst>
              <a:ext uri="{FF2B5EF4-FFF2-40B4-BE49-F238E27FC236}">
                <a16:creationId xmlns:a16="http://schemas.microsoft.com/office/drawing/2014/main" id="{3D636534-3788-4676-6341-13FEB20BE85E}"/>
              </a:ext>
            </a:extLst>
          </p:cNvPr>
          <p:cNvGraphicFramePr>
            <a:graphicFrameLocks noGrp="1"/>
          </p:cNvGraphicFramePr>
          <p:nvPr/>
        </p:nvGraphicFramePr>
        <p:xfrm>
          <a:off x="1101012" y="1675385"/>
          <a:ext cx="10170365" cy="4874704"/>
        </p:xfrm>
        <a:graphic>
          <a:graphicData uri="http://schemas.openxmlformats.org/drawingml/2006/table">
            <a:tbl>
              <a:tblPr firstRow="1" bandRow="1">
                <a:tableStyleId>{5C22544A-7EE6-4342-B048-85BDC9FD1C3A}</a:tableStyleId>
              </a:tblPr>
              <a:tblGrid>
                <a:gridCol w="821199">
                  <a:extLst>
                    <a:ext uri="{9D8B030D-6E8A-4147-A177-3AD203B41FA5}">
                      <a16:colId xmlns:a16="http://schemas.microsoft.com/office/drawing/2014/main" val="1386990416"/>
                    </a:ext>
                  </a:extLst>
                </a:gridCol>
                <a:gridCol w="2939132">
                  <a:extLst>
                    <a:ext uri="{9D8B030D-6E8A-4147-A177-3AD203B41FA5}">
                      <a16:colId xmlns:a16="http://schemas.microsoft.com/office/drawing/2014/main" val="3136461583"/>
                    </a:ext>
                  </a:extLst>
                </a:gridCol>
                <a:gridCol w="2122386">
                  <a:extLst>
                    <a:ext uri="{9D8B030D-6E8A-4147-A177-3AD203B41FA5}">
                      <a16:colId xmlns:a16="http://schemas.microsoft.com/office/drawing/2014/main" val="1182573430"/>
                    </a:ext>
                  </a:extLst>
                </a:gridCol>
                <a:gridCol w="2255459">
                  <a:extLst>
                    <a:ext uri="{9D8B030D-6E8A-4147-A177-3AD203B41FA5}">
                      <a16:colId xmlns:a16="http://schemas.microsoft.com/office/drawing/2014/main" val="1626122084"/>
                    </a:ext>
                  </a:extLst>
                </a:gridCol>
                <a:gridCol w="2032189">
                  <a:extLst>
                    <a:ext uri="{9D8B030D-6E8A-4147-A177-3AD203B41FA5}">
                      <a16:colId xmlns:a16="http://schemas.microsoft.com/office/drawing/2014/main" val="3976213130"/>
                    </a:ext>
                  </a:extLst>
                </a:gridCol>
              </a:tblGrid>
              <a:tr h="671304">
                <a:tc>
                  <a:txBody>
                    <a:bodyPr/>
                    <a:lstStyle/>
                    <a:p>
                      <a:pPr>
                        <a:buNone/>
                      </a:pPr>
                      <a:r>
                        <a:rPr lang="en-IN" sz="1400" b="1" dirty="0" err="1">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Details of the Journal</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Algorithm / Methodology Used</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Advantages</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Disadvantages</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74544936"/>
                  </a:ext>
                </a:extLst>
              </a:tr>
              <a:tr h="841713">
                <a:tc>
                  <a:txBody>
                    <a:bodyPr/>
                    <a:lstStyle/>
                    <a:p>
                      <a:pPr>
                        <a:buNone/>
                      </a:pPr>
                      <a:r>
                        <a:rPr lang="en-IN" sz="1400" dirty="0">
                          <a:latin typeface="Times New Roman" panose="02020603050405020304" pitchFamily="18" charset="0"/>
                          <a:cs typeface="Times New Roman" panose="02020603050405020304" pitchFamily="18" charset="0"/>
                        </a:rPr>
                        <a:t>1</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AI-Based Cryptanalysis for Classical Ciphers (2025)</a:t>
                      </a:r>
                    </a:p>
                  </a:txBody>
                  <a:tcPr anchor="ctr"/>
                </a:tc>
                <a:tc>
                  <a:txBody>
                    <a:bodyPr/>
                    <a:lstStyle/>
                    <a:p>
                      <a:pPr>
                        <a:buNone/>
                      </a:pPr>
                      <a:r>
                        <a:rPr lang="en-IN" sz="1400">
                          <a:latin typeface="Times New Roman" panose="02020603050405020304" pitchFamily="18" charset="0"/>
                          <a:cs typeface="Times New Roman" panose="02020603050405020304" pitchFamily="18" charset="0"/>
                        </a:rPr>
                        <a:t>Machine Learning, Frequency Analysis</a:t>
                      </a:r>
                    </a:p>
                  </a:txBody>
                  <a:tcPr anchor="ctr"/>
                </a:tc>
                <a:tc>
                  <a:txBody>
                    <a:bodyPr/>
                    <a:lstStyle/>
                    <a:p>
                      <a:pPr>
                        <a:buNone/>
                      </a:pPr>
                      <a:r>
                        <a:rPr lang="en-IN" sz="1400">
                          <a:latin typeface="Times New Roman" panose="02020603050405020304" pitchFamily="18" charset="0"/>
                          <a:cs typeface="Times New Roman" panose="02020603050405020304" pitchFamily="18" charset="0"/>
                        </a:rPr>
                        <a:t>Faster cipher detection and improved accuracy</a:t>
                      </a:r>
                    </a:p>
                  </a:txBody>
                  <a:tcPr anchor="ctr"/>
                </a:tc>
                <a:tc>
                  <a:txBody>
                    <a:bodyPr/>
                    <a:lstStyle/>
                    <a:p>
                      <a:pPr>
                        <a:buNone/>
                      </a:pPr>
                      <a:r>
                        <a:rPr lang="en-IN" sz="1400">
                          <a:latin typeface="Times New Roman" panose="02020603050405020304" pitchFamily="18" charset="0"/>
                          <a:cs typeface="Times New Roman" panose="02020603050405020304" pitchFamily="18" charset="0"/>
                        </a:rPr>
                        <a:t>Limited to classical ciphers</a:t>
                      </a:r>
                    </a:p>
                  </a:txBody>
                  <a:tcPr anchor="ctr"/>
                </a:tc>
                <a:extLst>
                  <a:ext uri="{0D108BD9-81ED-4DB2-BD59-A6C34878D82A}">
                    <a16:rowId xmlns:a16="http://schemas.microsoft.com/office/drawing/2014/main" val="3684060755"/>
                  </a:ext>
                </a:extLst>
              </a:tr>
              <a:tr h="1017285">
                <a:tc>
                  <a:txBody>
                    <a:bodyPr/>
                    <a:lstStyle/>
                    <a:p>
                      <a:pPr>
                        <a:buNone/>
                      </a:pPr>
                      <a:r>
                        <a:rPr lang="en-IN" sz="1400" dirty="0">
                          <a:latin typeface="Times New Roman" panose="02020603050405020304" pitchFamily="18" charset="0"/>
                          <a:cs typeface="Times New Roman" panose="02020603050405020304" pitchFamily="18" charset="0"/>
                        </a:rPr>
                        <a:t>2</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Intelligent Cryptography Security Assessment (2024)</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Random Forest, Feature Extraction</a:t>
                      </a:r>
                    </a:p>
                  </a:txBody>
                  <a:tcPr anchor="ctr"/>
                </a:tc>
                <a:tc>
                  <a:txBody>
                    <a:bodyPr/>
                    <a:lstStyle/>
                    <a:p>
                      <a:pPr>
                        <a:buNone/>
                      </a:pPr>
                      <a:r>
                        <a:rPr lang="en-IN" sz="1400">
                          <a:latin typeface="Times New Roman" panose="02020603050405020304" pitchFamily="18" charset="0"/>
                          <a:cs typeface="Times New Roman" panose="02020603050405020304" pitchFamily="18" charset="0"/>
                        </a:rPr>
                        <a:t>Identifies security weaknesses automatically</a:t>
                      </a:r>
                    </a:p>
                  </a:txBody>
                  <a:tcPr anchor="ctr"/>
                </a:tc>
                <a:tc>
                  <a:txBody>
                    <a:bodyPr/>
                    <a:lstStyle/>
                    <a:p>
                      <a:pPr>
                        <a:buNone/>
                      </a:pPr>
                      <a:r>
                        <a:rPr lang="en-IN" sz="1400">
                          <a:latin typeface="Times New Roman" panose="02020603050405020304" pitchFamily="18" charset="0"/>
                          <a:cs typeface="Times New Roman" panose="02020603050405020304" pitchFamily="18" charset="0"/>
                        </a:rPr>
                        <a:t>Requires quality training data</a:t>
                      </a:r>
                    </a:p>
                  </a:txBody>
                  <a:tcPr anchor="ctr"/>
                </a:tc>
                <a:extLst>
                  <a:ext uri="{0D108BD9-81ED-4DB2-BD59-A6C34878D82A}">
                    <a16:rowId xmlns:a16="http://schemas.microsoft.com/office/drawing/2014/main" val="882055771"/>
                  </a:ext>
                </a:extLst>
              </a:tr>
              <a:tr h="790073">
                <a:tc>
                  <a:txBody>
                    <a:bodyPr/>
                    <a:lstStyle/>
                    <a:p>
                      <a:pPr>
                        <a:buNone/>
                      </a:pPr>
                      <a:r>
                        <a:rPr lang="en-IN" sz="1400">
                          <a:latin typeface="Times New Roman" panose="02020603050405020304" pitchFamily="18" charset="0"/>
                          <a:cs typeface="Times New Roman" panose="02020603050405020304" pitchFamily="18" charset="0"/>
                        </a:rPr>
                        <a:t>3</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Deep Learning for Cryptanalysis (2024)</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Convolutional Neural Network (CNN)</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High accuracy in pattern recognition</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High computational cost</a:t>
                      </a:r>
                    </a:p>
                  </a:txBody>
                  <a:tcPr anchor="ctr"/>
                </a:tc>
                <a:extLst>
                  <a:ext uri="{0D108BD9-81ED-4DB2-BD59-A6C34878D82A}">
                    <a16:rowId xmlns:a16="http://schemas.microsoft.com/office/drawing/2014/main" val="2999325513"/>
                  </a:ext>
                </a:extLst>
              </a:tr>
              <a:tr h="555978">
                <a:tc>
                  <a:txBody>
                    <a:bodyPr/>
                    <a:lstStyle/>
                    <a:p>
                      <a:pPr>
                        <a:buNone/>
                      </a:pPr>
                      <a:r>
                        <a:rPr lang="en-IN" sz="1400" dirty="0">
                          <a:latin typeface="Times New Roman" panose="02020603050405020304" pitchFamily="18" charset="0"/>
                          <a:cs typeface="Times New Roman" panose="02020603050405020304" pitchFamily="18" charset="0"/>
                        </a:rPr>
                        <a:t>4</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Explainable AI in Cybersecurity (2023)</a:t>
                      </a:r>
                    </a:p>
                  </a:txBody>
                  <a:tcPr anchor="ctr"/>
                </a:tc>
                <a:tc>
                  <a:txBody>
                    <a:bodyPr/>
                    <a:lstStyle/>
                    <a:p>
                      <a:pPr>
                        <a:buNone/>
                      </a:pPr>
                      <a:r>
                        <a:rPr lang="en-IN" sz="1400">
                          <a:latin typeface="Times New Roman" panose="02020603050405020304" pitchFamily="18" charset="0"/>
                          <a:cs typeface="Times New Roman" panose="02020603050405020304" pitchFamily="18" charset="0"/>
                        </a:rPr>
                        <a:t>Explainable AI (XAI)</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Easy to understand AI decisions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Lower performance for complex attacks</a:t>
                      </a:r>
                    </a:p>
                  </a:txBody>
                  <a:tcPr anchor="ctr"/>
                </a:tc>
                <a:extLst>
                  <a:ext uri="{0D108BD9-81ED-4DB2-BD59-A6C34878D82A}">
                    <a16:rowId xmlns:a16="http://schemas.microsoft.com/office/drawing/2014/main" val="678724302"/>
                  </a:ext>
                </a:extLst>
              </a:tr>
              <a:tr h="998351">
                <a:tc>
                  <a:txBody>
                    <a:bodyPr/>
                    <a:lstStyle/>
                    <a:p>
                      <a:pPr>
                        <a:buNone/>
                      </a:pPr>
                      <a:r>
                        <a:rPr lang="en-IN" sz="1400">
                          <a:latin typeface="Times New Roman" panose="02020603050405020304" pitchFamily="18" charset="0"/>
                          <a:cs typeface="Times New Roman" panose="02020603050405020304" pitchFamily="18" charset="0"/>
                        </a:rPr>
                        <a:t>5</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AI-Driven Security Assessment Toolkit (2025)</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Machine Learning + Rule-Based Analysis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Real-time analysis and recommendations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Less effective for unknown attack patterns</a:t>
                      </a:r>
                    </a:p>
                  </a:txBody>
                  <a:tcPr anchor="ctr"/>
                </a:tc>
                <a:extLst>
                  <a:ext uri="{0D108BD9-81ED-4DB2-BD59-A6C34878D82A}">
                    <a16:rowId xmlns:a16="http://schemas.microsoft.com/office/drawing/2014/main" val="110087710"/>
                  </a:ext>
                </a:extLst>
              </a:tr>
            </a:tbl>
          </a:graphicData>
        </a:graphic>
      </p:graphicFrame>
    </p:spTree>
    <p:extLst>
      <p:ext uri="{BB962C8B-B14F-4D97-AF65-F5344CB8AC3E}">
        <p14:creationId xmlns:p14="http://schemas.microsoft.com/office/powerpoint/2010/main" val="470133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81864-60F1-9319-1B50-B26F2140AE0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A472BA0-C2BA-671C-0F5A-47758A38645B}"/>
              </a:ext>
            </a:extLst>
          </p:cNvPr>
          <p:cNvSpPr txBox="1"/>
          <p:nvPr/>
        </p:nvSpPr>
        <p:spPr>
          <a:xfrm>
            <a:off x="1198912" y="1693410"/>
            <a:ext cx="9142447" cy="4280467"/>
          </a:xfrm>
          <a:prstGeom prst="rect">
            <a:avLst/>
          </a:prstGeom>
          <a:noFill/>
        </p:spPr>
        <p:txBody>
          <a:bodyPr wrap="square" rtlCol="0">
            <a:spAutoFit/>
          </a:bodyPr>
          <a:lstStyle/>
          <a:p>
            <a:pPr marL="342900" lvl="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existing system mainly relies on traditional cryptographic tools that perform basic encryption and decryption using predefined algorithms.</a:t>
            </a:r>
          </a:p>
          <a:p>
            <a:pPr marL="342900" lvl="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Security analysis is often carried out manually using techniques such as frequency analysis and pattern recognition. </a:t>
            </a:r>
          </a:p>
          <a:p>
            <a:pPr marL="342900" lvl="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These tools generally provide limited automation and do not integrate user data management and AI-based recommendations, comprehensive cryptanalysis, and security assessment into a single platform</a:t>
            </a:r>
          </a:p>
          <a:p>
            <a:pPr marL="342900" lvl="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As a result, users may find it difficult to identify cipher vulnerabilities and understand the security level of different encryption techniques</a:t>
            </a:r>
            <a:r>
              <a:rPr lang="en-IN" sz="2400" dirty="0"/>
              <a:t>.</a:t>
            </a:r>
            <a:endParaRPr lang="en-IN"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819846C-758A-4639-DDF0-C2DBF6B73BD1}"/>
              </a:ext>
            </a:extLst>
          </p:cNvPr>
          <p:cNvPicPr/>
          <p:nvPr/>
        </p:nvPicPr>
        <p:blipFill>
          <a:blip r:embed="rId2"/>
          <a:stretch>
            <a:fillRect/>
          </a:stretch>
        </p:blipFill>
        <p:spPr>
          <a:xfrm>
            <a:off x="331086" y="351020"/>
            <a:ext cx="1134745" cy="1342390"/>
          </a:xfrm>
          <a:prstGeom prst="rect">
            <a:avLst/>
          </a:prstGeom>
        </p:spPr>
      </p:pic>
      <p:pic>
        <p:nvPicPr>
          <p:cNvPr id="6" name="Picture 5">
            <a:extLst>
              <a:ext uri="{FF2B5EF4-FFF2-40B4-BE49-F238E27FC236}">
                <a16:creationId xmlns:a16="http://schemas.microsoft.com/office/drawing/2014/main" id="{BC63436C-5E55-5186-2A1D-EED87083DA7D}"/>
              </a:ext>
            </a:extLst>
          </p:cNvPr>
          <p:cNvPicPr/>
          <p:nvPr/>
        </p:nvPicPr>
        <p:blipFill>
          <a:blip r:embed="rId3"/>
          <a:stretch>
            <a:fillRect/>
          </a:stretch>
        </p:blipFill>
        <p:spPr>
          <a:xfrm>
            <a:off x="10145329" y="351020"/>
            <a:ext cx="1519555" cy="1342390"/>
          </a:xfrm>
          <a:prstGeom prst="rect">
            <a:avLst/>
          </a:prstGeom>
        </p:spPr>
      </p:pic>
      <p:sp>
        <p:nvSpPr>
          <p:cNvPr id="9" name="TextBox 8">
            <a:extLst>
              <a:ext uri="{FF2B5EF4-FFF2-40B4-BE49-F238E27FC236}">
                <a16:creationId xmlns:a16="http://schemas.microsoft.com/office/drawing/2014/main" id="{54C8B1AC-478C-8947-8FCD-FBA7E39F7BD1}"/>
              </a:ext>
            </a:extLst>
          </p:cNvPr>
          <p:cNvSpPr txBox="1"/>
          <p:nvPr/>
        </p:nvSpPr>
        <p:spPr>
          <a:xfrm>
            <a:off x="2741538" y="729827"/>
            <a:ext cx="6128084"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EXISTING SYSTEM</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691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3BAF9-AA3F-FC2D-2EF8-234683D7966E}"/>
              </a:ext>
            </a:extLst>
          </p:cNvPr>
          <p:cNvSpPr>
            <a:spLocks noGrp="1"/>
          </p:cNvSpPr>
          <p:nvPr>
            <p:ph type="title"/>
          </p:nvPr>
        </p:nvSpPr>
        <p:spPr>
          <a:xfrm>
            <a:off x="2332653" y="373538"/>
            <a:ext cx="6802016" cy="1325563"/>
          </a:xfrm>
        </p:spPr>
        <p:txBody>
          <a:bodyPr/>
          <a:lstStyle/>
          <a:p>
            <a:r>
              <a:rPr lang="en-IN" b="1" dirty="0"/>
              <a:t>               </a:t>
            </a:r>
            <a:r>
              <a:rPr lang="en-IN" sz="2800" b="1" dirty="0">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FB1810-E237-8BA7-A278-DFCAFDDB31D1}"/>
              </a:ext>
            </a:extLst>
          </p:cNvPr>
          <p:cNvSpPr>
            <a:spLocks noGrp="1"/>
          </p:cNvSpPr>
          <p:nvPr>
            <p:ph idx="1"/>
          </p:nvPr>
        </p:nvSpPr>
        <p:spPr>
          <a:xfrm>
            <a:off x="1099458" y="2407522"/>
            <a:ext cx="10515600" cy="3472975"/>
          </a:xfrm>
        </p:spPr>
        <p:txBody>
          <a:bodyPr>
            <a:normAutofit/>
          </a:bodyPr>
          <a:lstStyle/>
          <a:p>
            <a:r>
              <a:rPr lang="en-IN" sz="2000" dirty="0">
                <a:latin typeface="Times New Roman" panose="02020603050405020304" pitchFamily="18" charset="0"/>
                <a:cs typeface="Times New Roman" panose="02020603050405020304" pitchFamily="18" charset="0"/>
              </a:rPr>
              <a:t>The User Input &amp; Data Management module collects and manages user inputs and messages. </a:t>
            </a:r>
          </a:p>
          <a:p>
            <a:r>
              <a:rPr lang="en-IN" sz="2000" dirty="0">
                <a:latin typeface="Times New Roman" panose="02020603050405020304" pitchFamily="18" charset="0"/>
                <a:cs typeface="Times New Roman" panose="02020603050405020304" pitchFamily="18" charset="0"/>
              </a:rPr>
              <a:t>The AI Recommendation Engine suggests suitable cryptographic techniques based on the selected requirements. </a:t>
            </a:r>
          </a:p>
          <a:p>
            <a:r>
              <a:rPr lang="en-IN" sz="2000" dirty="0">
                <a:latin typeface="Times New Roman" panose="02020603050405020304" pitchFamily="18" charset="0"/>
                <a:cs typeface="Times New Roman" panose="02020603050405020304" pitchFamily="18" charset="0"/>
              </a:rPr>
              <a:t>The Cryptanalysis &amp; Security Assessment module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encrypted messages, identifies potential vulnerabilities, and evaluates cipher security.</a:t>
            </a:r>
          </a:p>
          <a:p>
            <a:r>
              <a:rPr lang="en-IN" sz="2000" dirty="0">
                <a:latin typeface="Times New Roman" panose="02020603050405020304" pitchFamily="18" charset="0"/>
                <a:cs typeface="Times New Roman" panose="02020603050405020304" pitchFamily="18" charset="0"/>
              </a:rPr>
              <a:t> Finally, the Encryption, Decryption, Reports &amp; Dashboard module performs encryption and decryption, generates analysis reports, and displays results through an interactive dashboard. </a:t>
            </a:r>
          </a:p>
          <a:p>
            <a:r>
              <a:rPr lang="en-IN" sz="2000" dirty="0">
                <a:latin typeface="Times New Roman" panose="02020603050405020304" pitchFamily="18" charset="0"/>
                <a:cs typeface="Times New Roman" panose="02020603050405020304" pitchFamily="18" charset="0"/>
              </a:rPr>
              <a:t>The system aims to make cryptographic analysis more automated, user-friendly, and effective for educational and security assessment purposes.</a:t>
            </a:r>
          </a:p>
          <a:p>
            <a:endParaRPr lang="en-IN" dirty="0"/>
          </a:p>
        </p:txBody>
      </p:sp>
      <p:sp>
        <p:nvSpPr>
          <p:cNvPr id="4" name="Date Placeholder 3">
            <a:extLst>
              <a:ext uri="{FF2B5EF4-FFF2-40B4-BE49-F238E27FC236}">
                <a16:creationId xmlns:a16="http://schemas.microsoft.com/office/drawing/2014/main" id="{A39F8A0D-D1A0-CD69-BDB3-BDD35BABDD48}"/>
              </a:ext>
            </a:extLst>
          </p:cNvPr>
          <p:cNvSpPr>
            <a:spLocks noGrp="1"/>
          </p:cNvSpPr>
          <p:nvPr>
            <p:ph type="dt" sz="half" idx="10"/>
          </p:nvPr>
        </p:nvSpPr>
        <p:spPr/>
        <p:txBody>
          <a:bodyPr/>
          <a:lstStyle/>
          <a:p>
            <a:fld id="{1CA62E13-6E83-4F86-9F62-D6395AD1D44D}" type="datetime1">
              <a:rPr lang="en-US" smtClean="0"/>
              <a:t>10/14/2026</a:t>
            </a:fld>
            <a:endParaRPr lang="en-US"/>
          </a:p>
        </p:txBody>
      </p:sp>
      <p:sp>
        <p:nvSpPr>
          <p:cNvPr id="5" name="Slide Number Placeholder 4">
            <a:extLst>
              <a:ext uri="{FF2B5EF4-FFF2-40B4-BE49-F238E27FC236}">
                <a16:creationId xmlns:a16="http://schemas.microsoft.com/office/drawing/2014/main" id="{B0682388-308E-5282-E788-4EE2AC4E16A6}"/>
              </a:ext>
            </a:extLst>
          </p:cNvPr>
          <p:cNvSpPr>
            <a:spLocks noGrp="1"/>
          </p:cNvSpPr>
          <p:nvPr>
            <p:ph type="sldNum" sz="quarter" idx="12"/>
          </p:nvPr>
        </p:nvSpPr>
        <p:spPr/>
        <p:txBody>
          <a:bodyPr/>
          <a:lstStyle/>
          <a:p>
            <a:fld id="{B6EC1AE5-A1DE-415B-8CD1-7E08D07E9000}" type="slidenum">
              <a:rPr lang="en-US" smtClean="0"/>
              <a:t>7</a:t>
            </a:fld>
            <a:endParaRPr lang="en-US"/>
          </a:p>
        </p:txBody>
      </p:sp>
      <p:pic>
        <p:nvPicPr>
          <p:cNvPr id="7" name="Picture 6">
            <a:extLst>
              <a:ext uri="{FF2B5EF4-FFF2-40B4-BE49-F238E27FC236}">
                <a16:creationId xmlns:a16="http://schemas.microsoft.com/office/drawing/2014/main" id="{B72072FF-F845-990D-6CE8-959D5B61280B}"/>
              </a:ext>
            </a:extLst>
          </p:cNvPr>
          <p:cNvPicPr/>
          <p:nvPr/>
        </p:nvPicPr>
        <p:blipFill>
          <a:blip r:embed="rId2"/>
          <a:stretch>
            <a:fillRect/>
          </a:stretch>
        </p:blipFill>
        <p:spPr>
          <a:xfrm>
            <a:off x="331086" y="356711"/>
            <a:ext cx="1134745" cy="1342390"/>
          </a:xfrm>
          <a:prstGeom prst="rect">
            <a:avLst/>
          </a:prstGeom>
        </p:spPr>
      </p:pic>
      <p:pic>
        <p:nvPicPr>
          <p:cNvPr id="9" name="Picture 8">
            <a:extLst>
              <a:ext uri="{FF2B5EF4-FFF2-40B4-BE49-F238E27FC236}">
                <a16:creationId xmlns:a16="http://schemas.microsoft.com/office/drawing/2014/main" id="{6A361C03-52AD-1853-7F31-9D83C28FF453}"/>
              </a:ext>
            </a:extLst>
          </p:cNvPr>
          <p:cNvPicPr/>
          <p:nvPr/>
        </p:nvPicPr>
        <p:blipFill>
          <a:blip r:embed="rId3"/>
          <a:stretch>
            <a:fillRect/>
          </a:stretch>
        </p:blipFill>
        <p:spPr>
          <a:xfrm>
            <a:off x="10339066" y="241030"/>
            <a:ext cx="1519555" cy="1342390"/>
          </a:xfrm>
          <a:prstGeom prst="rect">
            <a:avLst/>
          </a:prstGeom>
        </p:spPr>
      </p:pic>
    </p:spTree>
    <p:extLst>
      <p:ext uri="{BB962C8B-B14F-4D97-AF65-F5344CB8AC3E}">
        <p14:creationId xmlns:p14="http://schemas.microsoft.com/office/powerpoint/2010/main" val="4217470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2CAAAC-1CD5-55A0-CE65-12ED46C6412B}"/>
              </a:ext>
            </a:extLst>
          </p:cNvPr>
          <p:cNvPicPr/>
          <p:nvPr/>
        </p:nvPicPr>
        <p:blipFill>
          <a:blip r:embed="rId2"/>
          <a:stretch>
            <a:fillRect/>
          </a:stretch>
        </p:blipFill>
        <p:spPr>
          <a:xfrm>
            <a:off x="270827" y="136525"/>
            <a:ext cx="1134745" cy="1342390"/>
          </a:xfrm>
          <a:prstGeom prst="rect">
            <a:avLst/>
          </a:prstGeom>
        </p:spPr>
      </p:pic>
      <p:pic>
        <p:nvPicPr>
          <p:cNvPr id="6" name="Picture 5">
            <a:extLst>
              <a:ext uri="{FF2B5EF4-FFF2-40B4-BE49-F238E27FC236}">
                <a16:creationId xmlns:a16="http://schemas.microsoft.com/office/drawing/2014/main" id="{CEEB2CC4-1CD3-7E1D-6137-4A597779ED64}"/>
              </a:ext>
            </a:extLst>
          </p:cNvPr>
          <p:cNvPicPr/>
          <p:nvPr/>
        </p:nvPicPr>
        <p:blipFill>
          <a:blip r:embed="rId3"/>
          <a:stretch>
            <a:fillRect/>
          </a:stretch>
        </p:blipFill>
        <p:spPr>
          <a:xfrm>
            <a:off x="10301513" y="136525"/>
            <a:ext cx="1519555" cy="1342390"/>
          </a:xfrm>
          <a:prstGeom prst="rect">
            <a:avLst/>
          </a:prstGeom>
        </p:spPr>
      </p:pic>
      <p:sp>
        <p:nvSpPr>
          <p:cNvPr id="9" name="TextBox 8">
            <a:extLst>
              <a:ext uri="{FF2B5EF4-FFF2-40B4-BE49-F238E27FC236}">
                <a16:creationId xmlns:a16="http://schemas.microsoft.com/office/drawing/2014/main" id="{BD267F59-78EC-9F73-41B8-005D6A79ADEF}"/>
              </a:ext>
            </a:extLst>
          </p:cNvPr>
          <p:cNvSpPr txBox="1"/>
          <p:nvPr/>
        </p:nvSpPr>
        <p:spPr>
          <a:xfrm>
            <a:off x="2437863" y="515332"/>
            <a:ext cx="7089058" cy="584775"/>
          </a:xfrm>
          <a:prstGeom prst="rect">
            <a:avLst/>
          </a:prstGeom>
          <a:noFill/>
        </p:spPr>
        <p:txBody>
          <a:bodyPr wrap="square">
            <a:spAutoFit/>
          </a:bodyPr>
          <a:lstStyle/>
          <a:p>
            <a:pPr algn="ctr"/>
            <a:r>
              <a:rPr lang="en-IN" sz="3200" b="1" dirty="0">
                <a:solidFill>
                  <a:srgbClr val="000000"/>
                </a:solidFill>
                <a:effectLst/>
                <a:latin typeface="Times New Roman" panose="02020603050405020304" pitchFamily="18" charset="0"/>
                <a:ea typeface="Times New Roman" panose="02020603050405020304" pitchFamily="18" charset="0"/>
              </a:rPr>
              <a:t>SYSTEM </a:t>
            </a:r>
            <a:r>
              <a:rPr lang="en-IN" sz="3200" b="1" dirty="0">
                <a:solidFill>
                  <a:srgbClr val="000000"/>
                </a:solidFill>
                <a:latin typeface="Times New Roman" panose="02020603050405020304" pitchFamily="18" charset="0"/>
                <a:ea typeface="Times New Roman" panose="02020603050405020304" pitchFamily="18" charset="0"/>
              </a:rPr>
              <a:t>ARCHITECTURE</a:t>
            </a:r>
            <a:endParaRPr lang="en-IN" sz="3200" dirty="0"/>
          </a:p>
        </p:txBody>
      </p:sp>
      <p:pic>
        <p:nvPicPr>
          <p:cNvPr id="3" name="Picture 2">
            <a:extLst>
              <a:ext uri="{FF2B5EF4-FFF2-40B4-BE49-F238E27FC236}">
                <a16:creationId xmlns:a16="http://schemas.microsoft.com/office/drawing/2014/main" id="{2AA945DE-80B8-F2CC-8AC4-4CF60E57275D}"/>
              </a:ext>
            </a:extLst>
          </p:cNvPr>
          <p:cNvPicPr>
            <a:picLocks noChangeAspect="1"/>
          </p:cNvPicPr>
          <p:nvPr/>
        </p:nvPicPr>
        <p:blipFill>
          <a:blip r:embed="rId4"/>
          <a:stretch>
            <a:fillRect/>
          </a:stretch>
        </p:blipFill>
        <p:spPr>
          <a:xfrm>
            <a:off x="1405573" y="1337911"/>
            <a:ext cx="8895940" cy="5337209"/>
          </a:xfrm>
          <a:prstGeom prst="rect">
            <a:avLst/>
          </a:prstGeom>
        </p:spPr>
      </p:pic>
    </p:spTree>
    <p:extLst>
      <p:ext uri="{BB962C8B-B14F-4D97-AF65-F5344CB8AC3E}">
        <p14:creationId xmlns:p14="http://schemas.microsoft.com/office/powerpoint/2010/main" val="4115998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81864-60F1-9319-1B50-B26F2140AE0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A472BA0-C2BA-671C-0F5A-47758A38645B}"/>
              </a:ext>
            </a:extLst>
          </p:cNvPr>
          <p:cNvSpPr txBox="1"/>
          <p:nvPr/>
        </p:nvSpPr>
        <p:spPr>
          <a:xfrm>
            <a:off x="1237413" y="1720216"/>
            <a:ext cx="9142447" cy="4610365"/>
          </a:xfrm>
          <a:prstGeom prst="rect">
            <a:avLst/>
          </a:prstGeom>
          <a:noFill/>
        </p:spPr>
        <p:txBody>
          <a:bodyPr wrap="square" rtlCol="0">
            <a:spAutoFit/>
          </a:bodyPr>
          <a:lstStyle/>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Module 1: User Input &amp; Data Management</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Module 2: AI Recommendation Engine</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Module 3: Cryptanalysis &amp; Security Assessment</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Module 4: Encryption, Decryption, Reports &amp; Dashboard</a:t>
            </a:r>
          </a:p>
        </p:txBody>
      </p:sp>
      <p:pic>
        <p:nvPicPr>
          <p:cNvPr id="4" name="Picture 3">
            <a:extLst>
              <a:ext uri="{FF2B5EF4-FFF2-40B4-BE49-F238E27FC236}">
                <a16:creationId xmlns:a16="http://schemas.microsoft.com/office/drawing/2014/main" id="{B819846C-758A-4639-DDF0-C2DBF6B73BD1}"/>
              </a:ext>
            </a:extLst>
          </p:cNvPr>
          <p:cNvPicPr/>
          <p:nvPr/>
        </p:nvPicPr>
        <p:blipFill>
          <a:blip r:embed="rId2"/>
          <a:stretch>
            <a:fillRect/>
          </a:stretch>
        </p:blipFill>
        <p:spPr>
          <a:xfrm>
            <a:off x="64167" y="130546"/>
            <a:ext cx="1134745" cy="1342390"/>
          </a:xfrm>
          <a:prstGeom prst="rect">
            <a:avLst/>
          </a:prstGeom>
        </p:spPr>
      </p:pic>
      <p:pic>
        <p:nvPicPr>
          <p:cNvPr id="6" name="Picture 5">
            <a:extLst>
              <a:ext uri="{FF2B5EF4-FFF2-40B4-BE49-F238E27FC236}">
                <a16:creationId xmlns:a16="http://schemas.microsoft.com/office/drawing/2014/main" id="{BC63436C-5E55-5186-2A1D-EED87083DA7D}"/>
              </a:ext>
            </a:extLst>
          </p:cNvPr>
          <p:cNvPicPr/>
          <p:nvPr/>
        </p:nvPicPr>
        <p:blipFill>
          <a:blip r:embed="rId3"/>
          <a:stretch>
            <a:fillRect/>
          </a:stretch>
        </p:blipFill>
        <p:spPr>
          <a:xfrm>
            <a:off x="10341359" y="130546"/>
            <a:ext cx="1519555" cy="1342390"/>
          </a:xfrm>
          <a:prstGeom prst="rect">
            <a:avLst/>
          </a:prstGeom>
        </p:spPr>
      </p:pic>
      <p:sp>
        <p:nvSpPr>
          <p:cNvPr id="9" name="TextBox 8">
            <a:extLst>
              <a:ext uri="{FF2B5EF4-FFF2-40B4-BE49-F238E27FC236}">
                <a16:creationId xmlns:a16="http://schemas.microsoft.com/office/drawing/2014/main" id="{54C8B1AC-478C-8947-8FCD-FBA7E39F7BD1}"/>
              </a:ext>
            </a:extLst>
          </p:cNvPr>
          <p:cNvSpPr txBox="1"/>
          <p:nvPr/>
        </p:nvSpPr>
        <p:spPr>
          <a:xfrm>
            <a:off x="2845340" y="612790"/>
            <a:ext cx="6128084"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PROJECT MODULES</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8441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team 14 ppt</Template>
  <TotalTime>1134</TotalTime>
  <Words>645</Words>
  <Application>Microsoft Office PowerPoint</Application>
  <PresentationFormat>Widescreen</PresentationFormat>
  <Paragraphs>87</Paragraphs>
  <Slides>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Times New Roman</vt:lpstr>
      <vt:lpstr>Wingdings</vt:lpstr>
      <vt:lpstr>Office Theme</vt:lpstr>
      <vt:lpstr>PowerPoint Presentation</vt:lpstr>
      <vt:lpstr>                        ABSTRACT</vt:lpstr>
      <vt:lpstr>PowerPoint Presentation</vt:lpstr>
      <vt:lpstr>PowerPoint Presentation</vt:lpstr>
      <vt:lpstr>PowerPoint Presentation</vt:lpstr>
      <vt:lpstr>PowerPoint Presentation</vt:lpstr>
      <vt:lpstr>               PROPOSED SYSTEM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lakshmi Mounika</dc:creator>
  <cp:lastModifiedBy>harshitha reddy</cp:lastModifiedBy>
  <cp:revision>25</cp:revision>
  <dcterms:created xsi:type="dcterms:W3CDTF">2025-09-18T04:51:34Z</dcterms:created>
  <dcterms:modified xsi:type="dcterms:W3CDTF">2026-10-14T09:22:29Z</dcterms:modified>
</cp:coreProperties>
</file>